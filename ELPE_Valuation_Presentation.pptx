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90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2E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0269"/>
    <p:restoredTop sz="94610"/>
  </p:normalViewPr>
  <p:slideViewPr>
    <p:cSldViewPr snapToGrid="0" snapToObjects="1">
      <p:cViewPr>
        <p:scale>
          <a:sx n="114" d="100"/>
          <a:sy n="114" d="100"/>
        </p:scale>
        <p:origin x="21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irenechartze/Desktop/ELPE%20Valu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Revenue (€m)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2F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9222</c:v>
                </c:pt>
                <c:pt idx="1">
                  <c:v>14508</c:v>
                </c:pt>
                <c:pt idx="2">
                  <c:v>12803</c:v>
                </c:pt>
                <c:pt idx="3">
                  <c:v>12768</c:v>
                </c:pt>
                <c:pt idx="4">
                  <c:v>11615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8A-E449-87DE-C6AAF69D6B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Adj. EBITDA &amp; Net Income (€m)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EBITDA</c:v>
                </c:pt>
              </c:strCache>
            </c:strRef>
          </c:tx>
          <c:spPr>
            <a:solidFill>
              <a:srgbClr val="6B2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765</c:v>
                </c:pt>
                <c:pt idx="1">
                  <c:v>1100</c:v>
                </c:pt>
                <c:pt idx="2">
                  <c:v>930</c:v>
                </c:pt>
                <c:pt idx="3">
                  <c:v>865</c:v>
                </c:pt>
                <c:pt idx="4">
                  <c:v>1132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7E-394D-9E31-6633FB76C1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341</c:v>
                </c:pt>
                <c:pt idx="1">
                  <c:v>895</c:v>
                </c:pt>
                <c:pt idx="2">
                  <c:v>481</c:v>
                </c:pt>
                <c:pt idx="3">
                  <c:v>62</c:v>
                </c:pt>
                <c:pt idx="4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7E-394D-9E31-6633FB76C1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Adj. EBITDA Margin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ELPE Adj. EBITDA %</c:v>
                </c:pt>
              </c:strCache>
            </c:strRef>
          </c:tx>
          <c:spPr>
            <a:ln w="25400" cap="flat">
              <a:solidFill>
                <a:srgbClr val="6B2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FA0"/>
              </a:solidFill>
              <a:ln w="9525" cap="flat">
                <a:solidFill>
                  <a:srgbClr val="6B2FA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8.3000000000000007</c:v>
                </c:pt>
                <c:pt idx="1">
                  <c:v>7.58</c:v>
                </c:pt>
                <c:pt idx="2">
                  <c:v>7.26</c:v>
                </c:pt>
                <c:pt idx="3">
                  <c:v>6.77</c:v>
                </c:pt>
                <c:pt idx="4">
                  <c:v>9.75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159-744B-A2FB-BBD05B8E9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MOH Adj. EBITDA %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6.43</c:v>
                </c:pt>
                <c:pt idx="1">
                  <c:v>12.06</c:v>
                </c:pt>
                <c:pt idx="2">
                  <c:v>11.92</c:v>
                </c:pt>
                <c:pt idx="3">
                  <c:v>9</c:v>
                </c:pt>
                <c:pt idx="4">
                  <c:v>9.1199999999999992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159-744B-A2FB-BBD05B8E9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Value Spread (ROA minus Kd,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Spread (ROA – Kd)</c:v>
                </c:pt>
              </c:strCache>
            </c:strRef>
          </c:tx>
          <c:spPr>
            <a:solidFill>
              <a:srgbClr val="6A2E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2.12</c:v>
                </c:pt>
                <c:pt idx="1">
                  <c:v>13.62</c:v>
                </c:pt>
                <c:pt idx="2">
                  <c:v>2.2799999999999998</c:v>
                </c:pt>
                <c:pt idx="3">
                  <c:v>-1.22</c:v>
                </c:pt>
                <c:pt idx="4">
                  <c:v>-1.62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EF-CC4C-8A8F-8C187CC175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4B"/>
                </a:solidFill>
                <a:latin typeface="Arial"/>
              </a:rPr>
              <a:t>Debt / Equity (x)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ELPE D/E</c:v>
                </c:pt>
              </c:strCache>
            </c:strRef>
          </c:tx>
          <c:spPr>
            <a:ln w="25400" cap="flat">
              <a:solidFill>
                <a:srgbClr val="6B2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FA0"/>
              </a:solidFill>
              <a:ln w="9525" cap="flat">
                <a:solidFill>
                  <a:srgbClr val="6B2FA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1.04</c:v>
                </c:pt>
                <c:pt idx="2">
                  <c:v>0.86</c:v>
                </c:pt>
                <c:pt idx="3">
                  <c:v>0.87</c:v>
                </c:pt>
                <c:pt idx="4">
                  <c:v>1.1000000000000001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E89-9E48-A6B8-56C5BC4D94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MOH D/E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1.6</c:v>
                </c:pt>
                <c:pt idx="1">
                  <c:v>1.29</c:v>
                </c:pt>
                <c:pt idx="2">
                  <c:v>0.94</c:v>
                </c:pt>
                <c:pt idx="3">
                  <c:v>0.95</c:v>
                </c:pt>
                <c:pt idx="4">
                  <c:v>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E89-9E48-A6B8-56C5BC4D94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4B"/>
                </a:solidFill>
                <a:latin typeface="Arial"/>
              </a:rPr>
              <a:t>Net Debt / Adj. EBITDA (x)  [threshold: 2.5x]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ELPE Net Debt/EBITDA</c:v>
                </c:pt>
              </c:strCache>
            </c:strRef>
          </c:tx>
          <c:spPr>
            <a:ln w="25400" cap="flat">
              <a:solidFill>
                <a:srgbClr val="E91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1E8C"/>
              </a:solidFill>
              <a:ln w="9525" cap="flat">
                <a:solidFill>
                  <a:srgbClr val="E91E8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2.5299999999999998</c:v>
                </c:pt>
                <c:pt idx="1">
                  <c:v>1.77</c:v>
                </c:pt>
                <c:pt idx="2">
                  <c:v>1.75</c:v>
                </c:pt>
                <c:pt idx="3">
                  <c:v>2.0699999999999998</c:v>
                </c:pt>
                <c:pt idx="4">
                  <c:v>1.89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712-6B4C-B288-660D9C74AE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MOH Net Debt/EBITDA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1.89</c:v>
                </c:pt>
                <c:pt idx="1">
                  <c:v>0.78</c:v>
                </c:pt>
                <c:pt idx="2">
                  <c:v>0.82</c:v>
                </c:pt>
                <c:pt idx="3">
                  <c:v>1.36</c:v>
                </c:pt>
                <c:pt idx="4">
                  <c:v>1.27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712-6B4C-B288-660D9C74A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ELPE Debt Structure (€m) – LT vs ST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 Loans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1517</c:v>
                </c:pt>
                <c:pt idx="1">
                  <c:v>1433</c:v>
                </c:pt>
                <c:pt idx="2">
                  <c:v>1388</c:v>
                </c:pt>
                <c:pt idx="3">
                  <c:v>2169</c:v>
                </c:pt>
                <c:pt idx="4">
                  <c:v>2777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C-F54C-9649-944F2CBE15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 Loans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1474</c:v>
                </c:pt>
                <c:pt idx="1">
                  <c:v>1409</c:v>
                </c:pt>
                <c:pt idx="2">
                  <c:v>1158</c:v>
                </c:pt>
                <c:pt idx="3">
                  <c:v>241</c:v>
                </c:pt>
                <c:pt idx="4">
                  <c:v>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AC-F54C-9649-944F2CBE1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Altman Z-Score (Public Market Model)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ELPE Z-Score</c:v>
                </c:pt>
              </c:strCache>
            </c:strRef>
          </c:tx>
          <c:spPr>
            <a:solidFill>
              <a:srgbClr val="6B2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1.89</c:v>
                </c:pt>
                <c:pt idx="1">
                  <c:v>2.9</c:v>
                </c:pt>
                <c:pt idx="2">
                  <c:v>2.67</c:v>
                </c:pt>
                <c:pt idx="3">
                  <c:v>2.73</c:v>
                </c:pt>
                <c:pt idx="4">
                  <c:v>2.35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E3-F244-B6A5-B55BD8C354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MOH Z-Score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3.63</c:v>
                </c:pt>
                <c:pt idx="1">
                  <c:v>4.26</c:v>
                </c:pt>
                <c:pt idx="2">
                  <c:v>3.62</c:v>
                </c:pt>
                <c:pt idx="3">
                  <c:v>3.62</c:v>
                </c:pt>
                <c:pt idx="4">
                  <c:v>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E3-F244-B6A5-B55BD8C354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Revenue Mix – 2025A (€m)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38-F24A-A231-4F8569A8DA89}"/>
              </c:ext>
            </c:extLst>
          </c:dPt>
          <c:dPt>
            <c:idx val="1"/>
            <c:bubble3D val="0"/>
            <c:spPr>
              <a:solidFill>
                <a:srgbClr val="6B2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38-F24A-A231-4F8569A8DA89}"/>
              </c:ext>
            </c:extLst>
          </c:dPt>
          <c:dPt>
            <c:idx val="2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38-F24A-A231-4F8569A8DA89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38-F24A-A231-4F8569A8DA89}"/>
              </c:ext>
            </c:extLst>
          </c:dPt>
          <c:dPt>
            <c:idx val="4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E38-F24A-A231-4F8569A8DA89}"/>
              </c:ext>
            </c:extLst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E38-F24A-A231-4F8569A8DA89}"/>
              </c:ext>
            </c:extLst>
          </c:dPt>
          <c:dLbls>
            <c:dLbl>
              <c:idx val="0"/>
              <c:layout>
                <c:manualLayout>
                  <c:x val="-0.17494942038495198"/>
                  <c:y val="-6.7987323595420132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38-F24A-A231-4F8569A8DA89}"/>
                </c:ext>
              </c:extLst>
            </c:dLbl>
            <c:dLbl>
              <c:idx val="1"/>
              <c:layout>
                <c:manualLayout>
                  <c:x val="0.21663773148148149"/>
                  <c:y val="4.3801114534596217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38-F24A-A231-4F8569A8DA89}"/>
                </c:ext>
              </c:extLst>
            </c:dLbl>
            <c:dLbl>
              <c:idx val="2"/>
              <c:layout>
                <c:manualLayout>
                  <c:x val="4.5486794619422545E-2"/>
                  <c:y val="3.3581060519608963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E38-F24A-A231-4F8569A8DA89}"/>
                </c:ext>
              </c:extLst>
            </c:dLbl>
            <c:dLbl>
              <c:idx val="3"/>
              <c:layout>
                <c:manualLayout>
                  <c:x val="6.5749626348789711E-2"/>
                  <c:y val="2.0097165164137093E-2"/>
                </c:manualLayout>
              </c:layout>
              <c:tx>
                <c:rich>
                  <a:bodyPr/>
                  <a:lstStyle/>
                  <a:p>
                    <a:pPr>
                      <a:defRPr sz="900" b="0" i="0" u="none" strike="noStrike">
                        <a:solidFill>
                          <a:schemeClr val="tx1"/>
                        </a:solidFill>
                        <a:latin typeface="Arial"/>
                      </a:defRPr>
                    </a:pPr>
                    <a:fld id="{2524DD84-598D-AF46-BBE5-8566E42C4FA3}" type="CATEGORYNAM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 sz="900" b="0" i="0" u="none" strike="noStrike">
                          <a:solidFill>
                            <a:schemeClr val="tx1"/>
                          </a:solidFill>
                          <a:latin typeface="Arial"/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tx1"/>
                        </a:solidFill>
                      </a:rPr>
                      <a:t> </a:t>
                    </a:r>
                    <a:fld id="{F97E008B-3EF0-5148-981C-E3BE5DEDB494}" type="PERCENTAGE">
                      <a:rPr lang="en-US" baseline="0" smtClean="0">
                        <a:solidFill>
                          <a:schemeClr val="tx1"/>
                        </a:solidFill>
                      </a:rPr>
                      <a:pPr>
                        <a:defRPr sz="900" b="0" i="0" u="none" strike="noStrike">
                          <a:solidFill>
                            <a:schemeClr val="tx1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numFmt formatCode="0%" sourceLinked="0"/>
              <c:spPr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836226851851847"/>
                      <c:h val="5.341183574879226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8E38-F24A-A231-4F8569A8DA89}"/>
                </c:ext>
              </c:extLst>
            </c:dLbl>
            <c:dLbl>
              <c:idx val="4"/>
              <c:layout>
                <c:manualLayout>
                  <c:x val="0.37648776975794701"/>
                  <c:y val="1.3816853056411426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E38-F24A-A231-4F8569A8DA89}"/>
                </c:ext>
              </c:extLst>
            </c:dLbl>
            <c:dLbl>
              <c:idx val="5"/>
              <c:layout>
                <c:manualLayout>
                  <c:x val="0.36428782990667835"/>
                  <c:y val="9.2414365323899725E-2"/>
                </c:manualLayout>
              </c:layout>
              <c:tx>
                <c:rich>
                  <a:bodyPr/>
                  <a:lstStyle/>
                  <a:p>
                    <a:pPr>
                      <a:defRPr sz="900" b="0" i="0" u="none" strike="noStrike">
                        <a:solidFill>
                          <a:schemeClr val="tx1"/>
                        </a:solidFill>
                        <a:latin typeface="Arial"/>
                      </a:defRPr>
                    </a:pPr>
                    <a:fld id="{90947841-41CD-7749-A8EF-866D114D0A65}" type="CATEGORYNAM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 sz="900" b="0" i="0" u="none" strike="noStrike">
                          <a:solidFill>
                            <a:schemeClr val="tx1"/>
                          </a:solidFill>
                          <a:latin typeface="Arial"/>
                        </a:defRPr>
                      </a:pPr>
                      <a:t>[CATEGORY NAME]</a:t>
                    </a:fld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:fld id="{8B64E8B9-3579-9547-A4CB-115A952885C8}" type="PERCENTAGE">
                      <a:rPr lang="en-US" baseline="0" smtClean="0">
                        <a:solidFill>
                          <a:schemeClr val="tx1"/>
                        </a:solidFill>
                      </a:rPr>
                      <a:pPr>
                        <a:defRPr sz="900" b="0" i="0" u="none" strike="noStrike">
                          <a:solidFill>
                            <a:schemeClr val="tx1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 dirty="0">
                      <a:solidFill>
                        <a:schemeClr val="tx1"/>
                      </a:solidFill>
                    </a:endParaRPr>
                  </a:p>
                </c:rich>
              </c:tx>
              <c:numFmt formatCode="0%" sourceLinked="0"/>
              <c:spPr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796574256342956"/>
                      <c:h val="7.152777777777777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8E38-F24A-A231-4F8569A8DA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Refining &amp; Supply</c:v>
                </c:pt>
                <c:pt idx="1">
                  <c:v>Retail (EKO)</c:v>
                </c:pt>
                <c:pt idx="2">
                  <c:v>Renewables</c:v>
                </c:pt>
                <c:pt idx="3">
                  <c:v>Chemicals</c:v>
                </c:pt>
                <c:pt idx="4">
                  <c:v>Power &amp; Gas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5699</c:v>
                </c:pt>
                <c:pt idx="1">
                  <c:v>4916</c:v>
                </c:pt>
                <c:pt idx="2">
                  <c:v>641</c:v>
                </c:pt>
                <c:pt idx="3">
                  <c:v>284</c:v>
                </c:pt>
                <c:pt idx="4">
                  <c:v>71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E38-F24A-A231-4F8569A8D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Revenue Mix – 2030F (€m)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2030F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61-5444-837D-C8B3214B4E7F}"/>
              </c:ext>
            </c:extLst>
          </c:dPt>
          <c:dPt>
            <c:idx val="1"/>
            <c:bubble3D val="0"/>
            <c:spPr>
              <a:solidFill>
                <a:srgbClr val="6B2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61-5444-837D-C8B3214B4E7F}"/>
              </c:ext>
            </c:extLst>
          </c:dPt>
          <c:dPt>
            <c:idx val="2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61-5444-837D-C8B3214B4E7F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61-5444-837D-C8B3214B4E7F}"/>
              </c:ext>
            </c:extLst>
          </c:dPt>
          <c:dPt>
            <c:idx val="4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61-5444-837D-C8B3214B4E7F}"/>
              </c:ext>
            </c:extLst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261-5444-837D-C8B3214B4E7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61-5444-837D-C8B3214B4E7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61-5444-837D-C8B3214B4E7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61-5444-837D-C8B3214B4E7F}"/>
                </c:ext>
              </c:extLst>
            </c:dLbl>
            <c:dLbl>
              <c:idx val="3"/>
              <c:layout>
                <c:manualLayout>
                  <c:x val="-0.29121350065616797"/>
                  <c:y val="2.9497128076381756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61-5444-837D-C8B3214B4E7F}"/>
                </c:ext>
              </c:extLst>
            </c:dLbl>
            <c:dLbl>
              <c:idx val="4"/>
              <c:layout>
                <c:manualLayout>
                  <c:x val="-0.37742166994750659"/>
                  <c:y val="0.13098729506637757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261-5444-837D-C8B3214B4E7F}"/>
                </c:ext>
              </c:extLst>
            </c:dLbl>
            <c:dLbl>
              <c:idx val="5"/>
              <c:layout>
                <c:manualLayout>
                  <c:x val="-0.41970930391513561"/>
                  <c:y val="0.21167741260603296"/>
                </c:manualLayout>
              </c:layout>
              <c:tx>
                <c:rich>
                  <a:bodyPr/>
                  <a:lstStyle/>
                  <a:p>
                    <a:pPr>
                      <a:defRPr sz="900" b="0" i="0" u="none" strike="noStrike">
                        <a:solidFill>
                          <a:schemeClr val="tx1"/>
                        </a:solidFill>
                        <a:latin typeface="Arial"/>
                      </a:defRPr>
                    </a:pPr>
                    <a:fld id="{8CDF2C44-225D-9A42-8A77-38B19099EFD3}" type="CATEGORYNAM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 sz="900" b="0" i="0" u="none" strike="noStrike">
                          <a:solidFill>
                            <a:schemeClr val="tx1"/>
                          </a:solidFill>
                          <a:latin typeface="Arial"/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tx1"/>
                        </a:solidFill>
                      </a:rPr>
                      <a:t> </a:t>
                    </a:r>
                    <a:fld id="{170B4BA8-02ED-244D-A9FC-D98EBA63B401}" type="PERCENTAGE">
                      <a:rPr lang="en-US" baseline="0" smtClean="0">
                        <a:solidFill>
                          <a:schemeClr val="tx1"/>
                        </a:solidFill>
                      </a:rPr>
                      <a:pPr>
                        <a:defRPr sz="900" b="0" i="0" u="none" strike="noStrike">
                          <a:solidFill>
                            <a:schemeClr val="tx1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numFmt formatCode="0%" sourceLinked="0"/>
              <c:spPr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035000182268881"/>
                      <c:h val="7.152777777777777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3261-5444-837D-C8B3214B4E7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Refining &amp; Supply</c:v>
                </c:pt>
                <c:pt idx="1">
                  <c:v>Retail (EKO)</c:v>
                </c:pt>
                <c:pt idx="2">
                  <c:v>Renewables</c:v>
                </c:pt>
                <c:pt idx="3">
                  <c:v>Chemicals</c:v>
                </c:pt>
                <c:pt idx="4">
                  <c:v>Power &amp; Gas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5546</c:v>
                </c:pt>
                <c:pt idx="1">
                  <c:v>4274</c:v>
                </c:pt>
                <c:pt idx="2">
                  <c:v>1177</c:v>
                </c:pt>
                <c:pt idx="3">
                  <c:v>370</c:v>
                </c:pt>
                <c:pt idx="4">
                  <c:v>200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261-5444-837D-C8B3214B4E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FCFF – Direct NOPAT Method (€m)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FCFF</c:v>
                </c:pt>
              </c:strCache>
            </c:strRef>
          </c:tx>
          <c:spPr>
            <a:solidFill>
              <a:srgbClr val="6B2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2026F</c:v>
                </c:pt>
                <c:pt idx="2">
                  <c:v>2027F</c:v>
                </c:pt>
                <c:pt idx="3">
                  <c:v>2028F</c:v>
                </c:pt>
                <c:pt idx="4">
                  <c:v>2029F</c:v>
                </c:pt>
                <c:pt idx="5">
                  <c:v>2030F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522</c:v>
                </c:pt>
                <c:pt idx="1">
                  <c:v>390</c:v>
                </c:pt>
                <c:pt idx="2">
                  <c:v>550</c:v>
                </c:pt>
                <c:pt idx="3">
                  <c:v>676</c:v>
                </c:pt>
                <c:pt idx="4">
                  <c:v>755</c:v>
                </c:pt>
                <c:pt idx="5">
                  <c:v>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DD-2B4B-9976-BAC2DBFC03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EBITDA vs CapEx (€m)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EBITDA</c:v>
                </c:pt>
              </c:strCache>
            </c:strRef>
          </c:tx>
          <c:spPr>
            <a:ln w="25400" cap="flat">
              <a:solidFill>
                <a:srgbClr val="0D1B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4B"/>
              </a:solidFill>
              <a:ln w="9525" cap="flat">
                <a:solidFill>
                  <a:srgbClr val="0D1B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2026F</c:v>
                </c:pt>
                <c:pt idx="2">
                  <c:v>2027F</c:v>
                </c:pt>
                <c:pt idx="3">
                  <c:v>2028F</c:v>
                </c:pt>
                <c:pt idx="4">
                  <c:v>2029F</c:v>
                </c:pt>
                <c:pt idx="5">
                  <c:v>2030F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1132</c:v>
                </c:pt>
                <c:pt idx="1">
                  <c:v>1388</c:v>
                </c:pt>
                <c:pt idx="2">
                  <c:v>1498</c:v>
                </c:pt>
                <c:pt idx="3">
                  <c:v>1550</c:v>
                </c:pt>
                <c:pt idx="4">
                  <c:v>1576</c:v>
                </c:pt>
                <c:pt idx="5">
                  <c:v>1605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2A7-E140-9971-9254EEBCFD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CapEx</c:v>
                </c:pt>
              </c:strCache>
            </c:strRef>
          </c:tx>
          <c:spPr>
            <a:ln w="25400" cap="flat">
              <a:solidFill>
                <a:srgbClr val="E91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1E8C"/>
              </a:solidFill>
              <a:ln w="9525" cap="flat">
                <a:solidFill>
                  <a:srgbClr val="E91E8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2026F</c:v>
                </c:pt>
                <c:pt idx="2">
                  <c:v>2027F</c:v>
                </c:pt>
                <c:pt idx="3">
                  <c:v>2028F</c:v>
                </c:pt>
                <c:pt idx="4">
                  <c:v>2029F</c:v>
                </c:pt>
                <c:pt idx="5">
                  <c:v>2030F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574</c:v>
                </c:pt>
                <c:pt idx="1">
                  <c:v>715</c:v>
                </c:pt>
                <c:pt idx="2">
                  <c:v>665</c:v>
                </c:pt>
                <c:pt idx="3">
                  <c:v>580</c:v>
                </c:pt>
                <c:pt idx="4">
                  <c:v>525</c:v>
                </c:pt>
                <c:pt idx="5">
                  <c:v>495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2A7-E140-9971-9254EEBCF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Segment EV (€m) – Low / Base / High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Low</c:v>
                </c:pt>
              </c:strCache>
            </c:strRef>
          </c:tx>
          <c:spPr>
            <a:solidFill>
              <a:srgbClr val="D4BB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Refining</c:v>
                </c:pt>
                <c:pt idx="1">
                  <c:v>Retail</c:v>
                </c:pt>
                <c:pt idx="2">
                  <c:v>Chemicals</c:v>
                </c:pt>
                <c:pt idx="3">
                  <c:v>Renewables</c:v>
                </c:pt>
                <c:pt idx="4">
                  <c:v>Power &amp; Gas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1405</c:v>
                </c:pt>
                <c:pt idx="1">
                  <c:v>427</c:v>
                </c:pt>
                <c:pt idx="2">
                  <c:v>144</c:v>
                </c:pt>
                <c:pt idx="3">
                  <c:v>4172</c:v>
                </c:pt>
                <c:pt idx="4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86-C144-B7A1-A329F480F0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 Base</c:v>
                </c:pt>
              </c:strCache>
            </c:strRef>
          </c:tx>
          <c:spPr>
            <a:solidFill>
              <a:srgbClr val="6B2FA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Refining</c:v>
                </c:pt>
                <c:pt idx="1">
                  <c:v>Retail</c:v>
                </c:pt>
                <c:pt idx="2">
                  <c:v>Chemicals</c:v>
                </c:pt>
                <c:pt idx="3">
                  <c:v>Renewables</c:v>
                </c:pt>
                <c:pt idx="4">
                  <c:v>Power &amp; Gas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2107</c:v>
                </c:pt>
                <c:pt idx="1">
                  <c:v>598</c:v>
                </c:pt>
                <c:pt idx="2">
                  <c:v>176</c:v>
                </c:pt>
                <c:pt idx="3">
                  <c:v>5215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86-C144-B7A1-A329F480F0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 High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Refining</c:v>
                </c:pt>
                <c:pt idx="1">
                  <c:v>Retail</c:v>
                </c:pt>
                <c:pt idx="2">
                  <c:v>Chemicals</c:v>
                </c:pt>
                <c:pt idx="3">
                  <c:v>Renewables</c:v>
                </c:pt>
                <c:pt idx="4">
                  <c:v>Power &amp; Gas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2809</c:v>
                </c:pt>
                <c:pt idx="1">
                  <c:v>769</c:v>
                </c:pt>
                <c:pt idx="2">
                  <c:v>208</c:v>
                </c:pt>
                <c:pt idx="3">
                  <c:v>6258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86-C144-B7A1-A329F480F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D1B4B"/>
                </a:solidFill>
                <a:latin typeface="Arial"/>
              </a:rPr>
              <a:t>PV of FCFF by Year (€m)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 of FCFF</c:v>
                </c:pt>
              </c:strCache>
            </c:strRef>
          </c:tx>
          <c:spPr>
            <a:solidFill>
              <a:srgbClr val="6B2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262</c:v>
                </c:pt>
                <c:pt idx="1">
                  <c:v>397</c:v>
                </c:pt>
                <c:pt idx="2">
                  <c:v>445</c:v>
                </c:pt>
                <c:pt idx="3">
                  <c:v>457</c:v>
                </c:pt>
                <c:pt idx="4">
                  <c:v>444</c:v>
                </c:pt>
                <c:pt idx="5">
                  <c:v>410</c:v>
                </c:pt>
                <c:pt idx="6">
                  <c:v>385</c:v>
                </c:pt>
                <c:pt idx="7">
                  <c:v>362</c:v>
                </c:pt>
                <c:pt idx="8">
                  <c:v>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3A-7549-9A4A-BDB7204C09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100" b="0" dirty="0" err="1"/>
              <a:t>CapEx</a:t>
            </a:r>
            <a:r>
              <a:rPr lang="en-US" sz="1100" b="0" dirty="0"/>
              <a:t> 2021A - 2030F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'12. SEGMENTS'!$A$37:$J$37</c:f>
              <c:numCache>
                <c:formatCode>General</c:formatCode>
                <c:ptCount val="10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</c:numCache>
            </c:numRef>
          </c:cat>
          <c:val>
            <c:numRef>
              <c:f>('12. SEGMENTS'!$B$31:$F$31,'12. SEGMENTS'!$I$31:$M$31)</c:f>
              <c:numCache>
                <c:formatCode>#,##0</c:formatCode>
                <c:ptCount val="10"/>
                <c:pt idx="0">
                  <c:v>400.44099999999997</c:v>
                </c:pt>
                <c:pt idx="1">
                  <c:v>512.17499999999995</c:v>
                </c:pt>
                <c:pt idx="2">
                  <c:v>291.03500000000003</c:v>
                </c:pt>
                <c:pt idx="3">
                  <c:v>434.42399999999998</c:v>
                </c:pt>
                <c:pt idx="4">
                  <c:v>757</c:v>
                </c:pt>
                <c:pt idx="5">
                  <c:v>715</c:v>
                </c:pt>
                <c:pt idx="6">
                  <c:v>665</c:v>
                </c:pt>
                <c:pt idx="7">
                  <c:v>580</c:v>
                </c:pt>
                <c:pt idx="8">
                  <c:v>525</c:v>
                </c:pt>
                <c:pt idx="9">
                  <c:v>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3D-8444-86F5-4DC20CFCEF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59770623"/>
        <c:axId val="359775103"/>
      </c:barChart>
      <c:catAx>
        <c:axId val="359770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775103"/>
        <c:crosses val="autoZero"/>
        <c:auto val="1"/>
        <c:lblAlgn val="ctr"/>
        <c:lblOffset val="100"/>
        <c:tickLblSkip val="1"/>
        <c:noMultiLvlLbl val="0"/>
      </c:catAx>
      <c:valAx>
        <c:axId val="35977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770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B"/>
                </a:solidFill>
                <a:latin typeface="Arial"/>
              </a:rPr>
              <a:t>1-Year Price Distribution (10,000 paths, %, €/share bins)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 (%)</c:v>
                </c:pt>
              </c:strCache>
            </c:strRef>
          </c:tx>
          <c:spPr>
            <a:solidFill>
              <a:srgbClr val="6B2FA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3.5–4.8</c:v>
                </c:pt>
                <c:pt idx="1">
                  <c:v>4.8–6.1</c:v>
                </c:pt>
                <c:pt idx="2">
                  <c:v>6.1–7.4</c:v>
                </c:pt>
                <c:pt idx="3">
                  <c:v>7.4–8.7</c:v>
                </c:pt>
                <c:pt idx="4">
                  <c:v>8.7–10.0</c:v>
                </c:pt>
                <c:pt idx="5">
                  <c:v>10.0–11.3</c:v>
                </c:pt>
                <c:pt idx="6">
                  <c:v>11.3–12.6</c:v>
                </c:pt>
                <c:pt idx="7">
                  <c:v>12.6–13.9</c:v>
                </c:pt>
                <c:pt idx="8">
                  <c:v>13.9–15.2</c:v>
                </c:pt>
                <c:pt idx="9">
                  <c:v>15.2–16.4</c:v>
                </c:pt>
                <c:pt idx="10">
                  <c:v>16.4–17.7</c:v>
                </c:pt>
                <c:pt idx="11">
                  <c:v>17.7+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0.45</c:v>
                </c:pt>
                <c:pt idx="1">
                  <c:v>2.84</c:v>
                </c:pt>
                <c:pt idx="2">
                  <c:v>8.86</c:v>
                </c:pt>
                <c:pt idx="3">
                  <c:v>15.35</c:v>
                </c:pt>
                <c:pt idx="4">
                  <c:v>18.53</c:v>
                </c:pt>
                <c:pt idx="5">
                  <c:v>16.649999999999999</c:v>
                </c:pt>
                <c:pt idx="6">
                  <c:v>12.94</c:v>
                </c:pt>
                <c:pt idx="7">
                  <c:v>9.52</c:v>
                </c:pt>
                <c:pt idx="8">
                  <c:v>6.27</c:v>
                </c:pt>
                <c:pt idx="9">
                  <c:v>3.8</c:v>
                </c:pt>
                <c:pt idx="10">
                  <c:v>2.11</c:v>
                </c:pt>
                <c:pt idx="11">
                  <c:v>2.68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37-F347-AEAD-DA121A9BC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4B"/>
                </a:solidFill>
                <a:latin typeface="Arial"/>
              </a:rPr>
              <a:t>Illustrative Rolling Beta (250-day window)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Rolling Beta (250d)</c:v>
                </c:pt>
              </c:strCache>
            </c:strRef>
          </c:tx>
          <c:spPr>
            <a:ln w="25400" cap="flat">
              <a:solidFill>
                <a:srgbClr val="E91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1E8C"/>
              </a:solidFill>
              <a:ln w="9525" cap="flat">
                <a:solidFill>
                  <a:srgbClr val="E91E8C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Q1-21</c:v>
                </c:pt>
                <c:pt idx="1">
                  <c:v>Q2-21</c:v>
                </c:pt>
                <c:pt idx="2">
                  <c:v>Q3-21</c:v>
                </c:pt>
                <c:pt idx="3">
                  <c:v>Q4-21</c:v>
                </c:pt>
                <c:pt idx="4">
                  <c:v>Q1-22</c:v>
                </c:pt>
                <c:pt idx="5">
                  <c:v>Q2-22</c:v>
                </c:pt>
                <c:pt idx="6">
                  <c:v>Q3-22</c:v>
                </c:pt>
                <c:pt idx="7">
                  <c:v>Q4-22</c:v>
                </c:pt>
                <c:pt idx="8">
                  <c:v>Q1-23</c:v>
                </c:pt>
                <c:pt idx="9">
                  <c:v>Q2-23</c:v>
                </c:pt>
                <c:pt idx="10">
                  <c:v>Q3-23</c:v>
                </c:pt>
                <c:pt idx="11">
                  <c:v>Q4-23</c:v>
                </c:pt>
                <c:pt idx="12">
                  <c:v>Q1-24</c:v>
                </c:pt>
                <c:pt idx="13">
                  <c:v>Q2-24</c:v>
                </c:pt>
                <c:pt idx="14">
                  <c:v>Q3-24</c:v>
                </c:pt>
                <c:pt idx="15">
                  <c:v>Q4-24</c:v>
                </c:pt>
                <c:pt idx="16">
                  <c:v>Q1-25</c:v>
                </c:pt>
                <c:pt idx="17">
                  <c:v>Q2-25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0.7</c:v>
                </c:pt>
                <c:pt idx="1">
                  <c:v>0.68</c:v>
                </c:pt>
                <c:pt idx="2">
                  <c:v>0.72</c:v>
                </c:pt>
                <c:pt idx="3">
                  <c:v>0.75</c:v>
                </c:pt>
                <c:pt idx="4">
                  <c:v>0.8</c:v>
                </c:pt>
                <c:pt idx="5">
                  <c:v>0.85</c:v>
                </c:pt>
                <c:pt idx="6">
                  <c:v>0.9</c:v>
                </c:pt>
                <c:pt idx="7">
                  <c:v>0.92</c:v>
                </c:pt>
                <c:pt idx="8">
                  <c:v>0.88</c:v>
                </c:pt>
                <c:pt idx="9">
                  <c:v>0.85</c:v>
                </c:pt>
                <c:pt idx="10">
                  <c:v>0.82</c:v>
                </c:pt>
                <c:pt idx="11">
                  <c:v>0.8</c:v>
                </c:pt>
                <c:pt idx="12">
                  <c:v>0.78</c:v>
                </c:pt>
                <c:pt idx="13">
                  <c:v>0.82</c:v>
                </c:pt>
                <c:pt idx="14">
                  <c:v>0.85</c:v>
                </c:pt>
                <c:pt idx="15">
                  <c:v>0.88</c:v>
                </c:pt>
                <c:pt idx="16">
                  <c:v>0.85</c:v>
                </c:pt>
                <c:pt idx="17">
                  <c:v>0.63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D0-CF42-A410-61F0C0CB8A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01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6B2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91440" cy="514350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HELLENiQ ENERGY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kern="0" spc="2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&amp; VALUATION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7772400" cy="0"/>
          </a:xfrm>
          <a:prstGeom prst="line">
            <a:avLst/>
          </a:prstGeom>
          <a:noFill/>
          <a:ln w="254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920240" cy="123444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19354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477463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– Apr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0" y="2514600"/>
            <a:ext cx="1920240" cy="1234440"/>
          </a:xfrm>
          <a:prstGeom prst="rect">
            <a:avLst/>
          </a:prstGeom>
          <a:solidFill>
            <a:srgbClr val="6B2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€23.13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319354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TARGET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3477463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+143% upside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0" y="2514600"/>
            <a:ext cx="1920240" cy="1234440"/>
          </a:xfrm>
          <a:prstGeom prst="rect">
            <a:avLst/>
          </a:prstGeom>
          <a:solidFill>
            <a:srgbClr val="C218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560320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€19.54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319354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SOTP TARGET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3477463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+106% upside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2514600"/>
            <a:ext cx="1920240" cy="123444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2560320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319354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3477463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β = 0.97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840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BUY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2245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Athens University of Economics and Business  |  Dept. of Economics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EBITDA &amp; NET INCOME  (2021–2025, €m)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4297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594360"/>
          <a:ext cx="4114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PROFILES &amp; VALUE SPREADS</a:t>
            </a:r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4206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>
            <a:extLst>
              <a:ext uri="{FF2B5EF4-FFF2-40B4-BE49-F238E27FC236}">
                <a16:creationId xmlns:a16="http://schemas.microsoft.com/office/drawing/2014/main" id="{A236B6B6-EA08-2888-5F79-590A819C5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0019528"/>
              </p:ext>
            </p:extLst>
          </p:nvPr>
        </p:nvGraphicFramePr>
        <p:xfrm>
          <a:off x="4864608" y="594360"/>
          <a:ext cx="400507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1"/>
          <p:cNvSpPr>
            <a:spLocks noGrp="1"/>
          </p:cNvSpPr>
          <p:nvPr/>
        </p:nvSpPr>
        <p:spPr>
          <a:xfrm>
            <a:off x="0" y="0"/>
            <a:ext cx="9144000" cy="406400"/>
          </a:xfrm>
          <a:prstGeom prst="rect">
            <a:avLst/>
          </a:prstGeom>
          <a:solidFill>
            <a:srgbClr val="0D1B4B"/>
          </a:solidFill>
        </p:spPr>
        <p:txBody>
          <a:bodyPr lIns="22860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PORTER'S FIVE FORCES</a:t>
            </a:r>
            <a:r>
              <a:rPr lang="en-US" sz="950" dirty="0">
                <a:solidFill>
                  <a:srgbClr val="8BA7CC"/>
                </a:solidFill>
                <a:latin typeface="Calibri"/>
              </a:rPr>
              <a:t>   ·   SE European Downstream Refining  |  ELPE Competitive Position</a:t>
            </a:r>
          </a:p>
        </p:txBody>
      </p:sp>
      <p:sp>
        <p:nvSpPr>
          <p:cNvPr id="11" name="s12"/>
          <p:cNvSpPr>
            <a:spLocks noGrp="1"/>
          </p:cNvSpPr>
          <p:nvPr/>
        </p:nvSpPr>
        <p:spPr>
          <a:xfrm>
            <a:off x="0" y="406400"/>
            <a:ext cx="9144000" cy="38100"/>
          </a:xfrm>
          <a:prstGeom prst="rect">
            <a:avLst/>
          </a:prstGeom>
          <a:solidFill>
            <a:srgbClr val="C9A84C"/>
          </a:solidFill>
        </p:spPr>
        <p:txBody>
          <a:bodyPr anchor="t"/>
          <a:lstStyle/>
          <a:p>
            <a:endParaRPr/>
          </a:p>
        </p:txBody>
      </p:sp>
      <p:sp>
        <p:nvSpPr>
          <p:cNvPr id="12" name="s13"/>
          <p:cNvSpPr>
            <a:spLocks noGrp="1"/>
          </p:cNvSpPr>
          <p:nvPr/>
        </p:nvSpPr>
        <p:spPr>
          <a:xfrm>
            <a:off x="0" y="1638300"/>
            <a:ext cx="9144000" cy="101600"/>
          </a:xfrm>
          <a:prstGeom prst="rect">
            <a:avLst/>
          </a:prstGeom>
          <a:solidFill>
            <a:srgbClr val="F5F6FA"/>
          </a:solidFill>
        </p:spPr>
        <p:txBody>
          <a:bodyPr anchor="t"/>
          <a:lstStyle/>
          <a:p>
            <a:endParaRPr/>
          </a:p>
        </p:txBody>
      </p:sp>
      <p:sp>
        <p:nvSpPr>
          <p:cNvPr id="13" name="s14"/>
          <p:cNvSpPr>
            <a:spLocks noGrp="1"/>
          </p:cNvSpPr>
          <p:nvPr/>
        </p:nvSpPr>
        <p:spPr>
          <a:xfrm>
            <a:off x="0" y="2933700"/>
            <a:ext cx="9144000" cy="101600"/>
          </a:xfrm>
          <a:prstGeom prst="rect">
            <a:avLst/>
          </a:prstGeom>
          <a:solidFill>
            <a:srgbClr val="F5F6FA"/>
          </a:solidFill>
        </p:spPr>
        <p:txBody>
          <a:bodyPr anchor="t"/>
          <a:lstStyle/>
          <a:p>
            <a:endParaRPr/>
          </a:p>
        </p:txBody>
      </p:sp>
      <p:sp>
        <p:nvSpPr>
          <p:cNvPr id="14" name="s15"/>
          <p:cNvSpPr>
            <a:spLocks noGrp="1"/>
          </p:cNvSpPr>
          <p:nvPr/>
        </p:nvSpPr>
        <p:spPr>
          <a:xfrm>
            <a:off x="0" y="4610100"/>
            <a:ext cx="9144000" cy="101600"/>
          </a:xfrm>
          <a:prstGeom prst="rect">
            <a:avLst/>
          </a:prstGeom>
          <a:solidFill>
            <a:srgbClr val="F5F6FA"/>
          </a:solidFill>
        </p:spPr>
        <p:txBody>
          <a:bodyPr anchor="t"/>
          <a:lstStyle/>
          <a:p>
            <a:endParaRPr/>
          </a:p>
        </p:txBody>
      </p:sp>
      <p:sp>
        <p:nvSpPr>
          <p:cNvPr id="15" name="s16"/>
          <p:cNvSpPr>
            <a:spLocks noGrp="1"/>
          </p:cNvSpPr>
          <p:nvPr/>
        </p:nvSpPr>
        <p:spPr>
          <a:xfrm>
            <a:off x="4483100" y="444500"/>
            <a:ext cx="177800" cy="2489200"/>
          </a:xfrm>
          <a:prstGeom prst="rect">
            <a:avLst/>
          </a:prstGeom>
          <a:solidFill>
            <a:srgbClr val="F5F6FA"/>
          </a:solidFill>
        </p:spPr>
        <p:txBody>
          <a:bodyPr anchor="t"/>
          <a:lstStyle/>
          <a:p>
            <a:endParaRPr/>
          </a:p>
        </p:txBody>
      </p:sp>
      <p:sp>
        <p:nvSpPr>
          <p:cNvPr id="16" name="s17"/>
          <p:cNvSpPr>
            <a:spLocks noGrp="1"/>
          </p:cNvSpPr>
          <p:nvPr/>
        </p:nvSpPr>
        <p:spPr>
          <a:xfrm>
            <a:off x="0" y="444500"/>
            <a:ext cx="4483100" cy="1193800"/>
          </a:xfrm>
          <a:prstGeom prst="rect">
            <a:avLst/>
          </a:prstGeom>
          <a:solidFill>
            <a:srgbClr val="FFFFFF"/>
          </a:solidFill>
        </p:spPr>
        <p:txBody>
          <a:bodyPr anchor="t"/>
          <a:lstStyle/>
          <a:p>
            <a:endParaRPr/>
          </a:p>
        </p:txBody>
      </p:sp>
      <p:sp>
        <p:nvSpPr>
          <p:cNvPr id="17" name="s18"/>
          <p:cNvSpPr>
            <a:spLocks noGrp="1"/>
          </p:cNvSpPr>
          <p:nvPr/>
        </p:nvSpPr>
        <p:spPr>
          <a:xfrm>
            <a:off x="0" y="444500"/>
            <a:ext cx="63500" cy="1193800"/>
          </a:xfrm>
          <a:prstGeom prst="rect">
            <a:avLst/>
          </a:prstGeom>
          <a:solidFill>
            <a:srgbClr val="2E7D32"/>
          </a:solidFill>
        </p:spPr>
        <p:txBody>
          <a:bodyPr anchor="t"/>
          <a:lstStyle/>
          <a:p>
            <a:endParaRPr/>
          </a:p>
        </p:txBody>
      </p:sp>
      <p:sp>
        <p:nvSpPr>
          <p:cNvPr id="18" name="s19"/>
          <p:cNvSpPr>
            <a:spLocks noGrp="1"/>
          </p:cNvSpPr>
          <p:nvPr/>
        </p:nvSpPr>
        <p:spPr>
          <a:xfrm>
            <a:off x="152400" y="558800"/>
            <a:ext cx="317500" cy="266700"/>
          </a:xfrm>
          <a:prstGeom prst="rect">
            <a:avLst/>
          </a:prstGeom>
          <a:solidFill>
            <a:srgbClr val="2E7D32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9" name="s20"/>
          <p:cNvSpPr>
            <a:spLocks noGrp="1"/>
          </p:cNvSpPr>
          <p:nvPr/>
        </p:nvSpPr>
        <p:spPr>
          <a:xfrm>
            <a:off x="520700" y="558800"/>
            <a:ext cx="1371600" cy="266700"/>
          </a:xfrm>
          <a:prstGeom prst="rect">
            <a:avLst/>
          </a:prstGeom>
          <a:solidFill>
            <a:srgbClr val="C8E6C9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1B5E20"/>
                </a:solidFill>
                <a:latin typeface="Calibri"/>
              </a:rPr>
              <a:t>LOW  ▼</a:t>
            </a:r>
          </a:p>
        </p:txBody>
      </p:sp>
      <p:sp>
        <p:nvSpPr>
          <p:cNvPr id="20" name="s21"/>
          <p:cNvSpPr>
            <a:spLocks noGrp="1"/>
          </p:cNvSpPr>
          <p:nvPr/>
        </p:nvSpPr>
        <p:spPr>
          <a:xfrm>
            <a:off x="152400" y="863600"/>
            <a:ext cx="4203700" cy="215900"/>
          </a:xfrm>
          <a:prstGeom prst="rect">
            <a:avLst/>
          </a:prstGeom>
          <a:noFill/>
        </p:spPr>
        <p:txBody>
          <a:bodyPr l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D1B4B"/>
                </a:solidFill>
                <a:latin typeface="Calibri"/>
              </a:rPr>
              <a:t>New Entrants</a:t>
            </a:r>
          </a:p>
        </p:txBody>
      </p:sp>
      <p:sp>
        <p:nvSpPr>
          <p:cNvPr id="21" name="s22"/>
          <p:cNvSpPr>
            <a:spLocks noGrp="1"/>
          </p:cNvSpPr>
          <p:nvPr/>
        </p:nvSpPr>
        <p:spPr>
          <a:xfrm>
            <a:off x="152400" y="11049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3A3A5C"/>
                </a:solidFill>
                <a:latin typeface="Calibri"/>
              </a:rPr>
              <a:t>EUR 2–4bn capital per refinery; 5–10yr permitting; EU ETS compliance. ELPE entrenched (3 sites, 340 kbbl/d since 1958).</a:t>
            </a:r>
          </a:p>
        </p:txBody>
      </p:sp>
      <p:sp>
        <p:nvSpPr>
          <p:cNvPr id="22" name="s23"/>
          <p:cNvSpPr>
            <a:spLocks noGrp="1"/>
          </p:cNvSpPr>
          <p:nvPr/>
        </p:nvSpPr>
        <p:spPr>
          <a:xfrm>
            <a:off x="152400" y="1409700"/>
            <a:ext cx="4203700" cy="22860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buNone/>
            </a:pPr>
            <a:r>
              <a:rPr lang="en-US" sz="850" i="1" dirty="0">
                <a:solidFill>
                  <a:srgbClr val="1B5E20"/>
                </a:solidFill>
                <a:latin typeface="Calibri"/>
              </a:rPr>
              <a:t>STRONG MOAT — new entrants locked out for 15–20 years.</a:t>
            </a:r>
          </a:p>
        </p:txBody>
      </p:sp>
      <p:sp>
        <p:nvSpPr>
          <p:cNvPr id="23" name="s24"/>
          <p:cNvSpPr>
            <a:spLocks noGrp="1"/>
          </p:cNvSpPr>
          <p:nvPr/>
        </p:nvSpPr>
        <p:spPr>
          <a:xfrm>
            <a:off x="4660900" y="444500"/>
            <a:ext cx="4483100" cy="1193800"/>
          </a:xfrm>
          <a:prstGeom prst="rect">
            <a:avLst/>
          </a:prstGeom>
          <a:solidFill>
            <a:srgbClr val="FFFFFF"/>
          </a:solidFill>
        </p:spPr>
        <p:txBody>
          <a:bodyPr anchor="t"/>
          <a:lstStyle/>
          <a:p>
            <a:endParaRPr/>
          </a:p>
        </p:txBody>
      </p:sp>
      <p:sp>
        <p:nvSpPr>
          <p:cNvPr id="24" name="s25"/>
          <p:cNvSpPr>
            <a:spLocks noGrp="1"/>
          </p:cNvSpPr>
          <p:nvPr/>
        </p:nvSpPr>
        <p:spPr>
          <a:xfrm>
            <a:off x="4660900" y="444500"/>
            <a:ext cx="63500" cy="1193800"/>
          </a:xfrm>
          <a:prstGeom prst="rect">
            <a:avLst/>
          </a:prstGeom>
          <a:solidFill>
            <a:srgbClr val="E64A19"/>
          </a:solidFill>
        </p:spPr>
        <p:txBody>
          <a:bodyPr anchor="t"/>
          <a:lstStyle/>
          <a:p>
            <a:endParaRPr/>
          </a:p>
        </p:txBody>
      </p:sp>
      <p:sp>
        <p:nvSpPr>
          <p:cNvPr id="25" name="s26"/>
          <p:cNvSpPr>
            <a:spLocks noGrp="1"/>
          </p:cNvSpPr>
          <p:nvPr/>
        </p:nvSpPr>
        <p:spPr>
          <a:xfrm>
            <a:off x="4813300" y="558800"/>
            <a:ext cx="317500" cy="266700"/>
          </a:xfrm>
          <a:prstGeom prst="rect">
            <a:avLst/>
          </a:prstGeom>
          <a:solidFill>
            <a:srgbClr val="E64A19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26" name="s27"/>
          <p:cNvSpPr>
            <a:spLocks noGrp="1"/>
          </p:cNvSpPr>
          <p:nvPr/>
        </p:nvSpPr>
        <p:spPr>
          <a:xfrm>
            <a:off x="5181600" y="558800"/>
            <a:ext cx="1371600" cy="266700"/>
          </a:xfrm>
          <a:prstGeom prst="rect">
            <a:avLst/>
          </a:prstGeom>
          <a:solidFill>
            <a:srgbClr val="FFCCBC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BF360C"/>
                </a:solidFill>
                <a:latin typeface="Calibri"/>
              </a:rPr>
              <a:t>MED-HIGH  ▲</a:t>
            </a:r>
          </a:p>
        </p:txBody>
      </p:sp>
      <p:sp>
        <p:nvSpPr>
          <p:cNvPr id="27" name="s28"/>
          <p:cNvSpPr>
            <a:spLocks noGrp="1"/>
          </p:cNvSpPr>
          <p:nvPr/>
        </p:nvSpPr>
        <p:spPr>
          <a:xfrm>
            <a:off x="4813300" y="863600"/>
            <a:ext cx="4203700" cy="215900"/>
          </a:xfrm>
          <a:prstGeom prst="rect">
            <a:avLst/>
          </a:prstGeom>
          <a:noFill/>
        </p:spPr>
        <p:txBody>
          <a:bodyPr l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D1B4B"/>
                </a:solidFill>
                <a:latin typeface="Calibri"/>
              </a:rPr>
              <a:t>Supplier Power</a:t>
            </a:r>
          </a:p>
        </p:txBody>
      </p:sp>
      <p:sp>
        <p:nvSpPr>
          <p:cNvPr id="28" name="s29"/>
          <p:cNvSpPr>
            <a:spLocks noGrp="1"/>
          </p:cNvSpPr>
          <p:nvPr/>
        </p:nvSpPr>
        <p:spPr>
          <a:xfrm>
            <a:off x="4813300" y="11049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3A3A5C"/>
                </a:solidFill>
                <a:latin typeface="Calibri"/>
              </a:rPr>
              <a:t>Crude priced globally — ELPE is a price-taker. Diversified from ~60% Urals (pre-2022) to Azeri, Saudi &amp; West African crudes.</a:t>
            </a:r>
          </a:p>
        </p:txBody>
      </p:sp>
      <p:sp>
        <p:nvSpPr>
          <p:cNvPr id="29" name="s30"/>
          <p:cNvSpPr>
            <a:spLocks noGrp="1"/>
          </p:cNvSpPr>
          <p:nvPr/>
        </p:nvSpPr>
        <p:spPr>
          <a:xfrm>
            <a:off x="4813300" y="1409700"/>
            <a:ext cx="4203700" cy="22860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buNone/>
            </a:pPr>
            <a:r>
              <a:rPr lang="en-US" sz="850" i="1" dirty="0">
                <a:solidFill>
                  <a:srgbClr val="BF360C"/>
                </a:solidFill>
                <a:latin typeface="Calibri"/>
              </a:rPr>
              <a:t>MODERATELY NEGATIVE — geopolitical supply disruption risk persists.</a:t>
            </a:r>
          </a:p>
        </p:txBody>
      </p:sp>
      <p:sp>
        <p:nvSpPr>
          <p:cNvPr id="30" name="s31"/>
          <p:cNvSpPr>
            <a:spLocks noGrp="1"/>
          </p:cNvSpPr>
          <p:nvPr/>
        </p:nvSpPr>
        <p:spPr>
          <a:xfrm>
            <a:off x="0" y="1739900"/>
            <a:ext cx="4483100" cy="1193800"/>
          </a:xfrm>
          <a:prstGeom prst="rect">
            <a:avLst/>
          </a:prstGeom>
          <a:solidFill>
            <a:srgbClr val="FFFFFF"/>
          </a:solidFill>
        </p:spPr>
        <p:txBody>
          <a:bodyPr anchor="t"/>
          <a:lstStyle/>
          <a:p>
            <a:endParaRPr/>
          </a:p>
        </p:txBody>
      </p:sp>
      <p:sp>
        <p:nvSpPr>
          <p:cNvPr id="31" name="s32"/>
          <p:cNvSpPr>
            <a:spLocks noGrp="1"/>
          </p:cNvSpPr>
          <p:nvPr/>
        </p:nvSpPr>
        <p:spPr>
          <a:xfrm>
            <a:off x="0" y="1739900"/>
            <a:ext cx="63500" cy="1193800"/>
          </a:xfrm>
          <a:prstGeom prst="rect">
            <a:avLst/>
          </a:prstGeom>
          <a:solidFill>
            <a:srgbClr val="FB8C00"/>
          </a:solidFill>
        </p:spPr>
        <p:txBody>
          <a:bodyPr anchor="t"/>
          <a:lstStyle/>
          <a:p>
            <a:endParaRPr/>
          </a:p>
        </p:txBody>
      </p:sp>
      <p:sp>
        <p:nvSpPr>
          <p:cNvPr id="32" name="s33"/>
          <p:cNvSpPr>
            <a:spLocks noGrp="1"/>
          </p:cNvSpPr>
          <p:nvPr/>
        </p:nvSpPr>
        <p:spPr>
          <a:xfrm>
            <a:off x="152400" y="1854200"/>
            <a:ext cx="317500" cy="266700"/>
          </a:xfrm>
          <a:prstGeom prst="rect">
            <a:avLst/>
          </a:prstGeom>
          <a:solidFill>
            <a:srgbClr val="FB8C00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33" name="s34"/>
          <p:cNvSpPr>
            <a:spLocks noGrp="1"/>
          </p:cNvSpPr>
          <p:nvPr/>
        </p:nvSpPr>
        <p:spPr>
          <a:xfrm>
            <a:off x="520700" y="1854200"/>
            <a:ext cx="1371600" cy="266700"/>
          </a:xfrm>
          <a:prstGeom prst="rect">
            <a:avLst/>
          </a:prstGeom>
          <a:solidFill>
            <a:srgbClr val="FFE0B2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E65100"/>
                </a:solidFill>
                <a:latin typeface="Calibri"/>
              </a:rPr>
              <a:t>MEDIUM  →</a:t>
            </a:r>
          </a:p>
        </p:txBody>
      </p:sp>
      <p:sp>
        <p:nvSpPr>
          <p:cNvPr id="34" name="s35"/>
          <p:cNvSpPr>
            <a:spLocks noGrp="1"/>
          </p:cNvSpPr>
          <p:nvPr/>
        </p:nvSpPr>
        <p:spPr>
          <a:xfrm>
            <a:off x="152400" y="2159000"/>
            <a:ext cx="4203700" cy="215900"/>
          </a:xfrm>
          <a:prstGeom prst="rect">
            <a:avLst/>
          </a:prstGeom>
          <a:noFill/>
        </p:spPr>
        <p:txBody>
          <a:bodyPr l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D1B4B"/>
                </a:solidFill>
                <a:latin typeface="Calibri"/>
              </a:rPr>
              <a:t>Buyer Power</a:t>
            </a:r>
          </a:p>
        </p:txBody>
      </p:sp>
      <p:sp>
        <p:nvSpPr>
          <p:cNvPr id="35" name="s36"/>
          <p:cNvSpPr>
            <a:spLocks noGrp="1"/>
          </p:cNvSpPr>
          <p:nvPr/>
        </p:nvSpPr>
        <p:spPr>
          <a:xfrm>
            <a:off x="152400" y="24003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3A3A5C"/>
                </a:solidFill>
                <a:latin typeface="Calibri"/>
              </a:rPr>
              <a:t>EKO retail (~1,800 stations) provides captive channel with switching costs. Industrial buyers (airports, shipping) hold higher power on short-term contracts.</a:t>
            </a:r>
          </a:p>
        </p:txBody>
      </p:sp>
      <p:sp>
        <p:nvSpPr>
          <p:cNvPr id="36" name="s37"/>
          <p:cNvSpPr>
            <a:spLocks noGrp="1"/>
          </p:cNvSpPr>
          <p:nvPr/>
        </p:nvSpPr>
        <p:spPr>
          <a:xfrm>
            <a:off x="152400" y="2705100"/>
            <a:ext cx="4203700" cy="22860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buNone/>
            </a:pPr>
            <a:r>
              <a:rPr lang="en-US" sz="850" i="1" dirty="0">
                <a:solidFill>
                  <a:srgbClr val="E65100"/>
                </a:solidFill>
                <a:latin typeface="Calibri"/>
              </a:rPr>
              <a:t>MIXED — integrated retail model is structurally defensive against buyer pressure.</a:t>
            </a:r>
          </a:p>
        </p:txBody>
      </p:sp>
      <p:sp>
        <p:nvSpPr>
          <p:cNvPr id="37" name="s38"/>
          <p:cNvSpPr>
            <a:spLocks noGrp="1"/>
          </p:cNvSpPr>
          <p:nvPr/>
        </p:nvSpPr>
        <p:spPr>
          <a:xfrm>
            <a:off x="4660900" y="1739900"/>
            <a:ext cx="4483100" cy="1193800"/>
          </a:xfrm>
          <a:prstGeom prst="rect">
            <a:avLst/>
          </a:prstGeom>
          <a:solidFill>
            <a:srgbClr val="FFFFFF"/>
          </a:solidFill>
        </p:spPr>
        <p:txBody>
          <a:bodyPr anchor="t"/>
          <a:lstStyle/>
          <a:p>
            <a:endParaRPr/>
          </a:p>
        </p:txBody>
      </p:sp>
      <p:sp>
        <p:nvSpPr>
          <p:cNvPr id="38" name="s39"/>
          <p:cNvSpPr>
            <a:spLocks noGrp="1"/>
          </p:cNvSpPr>
          <p:nvPr/>
        </p:nvSpPr>
        <p:spPr>
          <a:xfrm>
            <a:off x="4660900" y="1739900"/>
            <a:ext cx="63500" cy="1193800"/>
          </a:xfrm>
          <a:prstGeom prst="rect">
            <a:avLst/>
          </a:prstGeom>
          <a:solidFill>
            <a:srgbClr val="C2185B"/>
          </a:solidFill>
        </p:spPr>
        <p:txBody>
          <a:bodyPr anchor="t"/>
          <a:lstStyle/>
          <a:p>
            <a:endParaRPr/>
          </a:p>
        </p:txBody>
      </p:sp>
      <p:sp>
        <p:nvSpPr>
          <p:cNvPr id="39" name="s40"/>
          <p:cNvSpPr>
            <a:spLocks noGrp="1"/>
          </p:cNvSpPr>
          <p:nvPr/>
        </p:nvSpPr>
        <p:spPr>
          <a:xfrm>
            <a:off x="4813300" y="1854200"/>
            <a:ext cx="317500" cy="266700"/>
          </a:xfrm>
          <a:prstGeom prst="rect">
            <a:avLst/>
          </a:prstGeom>
          <a:solidFill>
            <a:srgbClr val="C2185B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40" name="s41"/>
          <p:cNvSpPr>
            <a:spLocks noGrp="1"/>
          </p:cNvSpPr>
          <p:nvPr/>
        </p:nvSpPr>
        <p:spPr>
          <a:xfrm>
            <a:off x="5181600" y="1854200"/>
            <a:ext cx="1371600" cy="266700"/>
          </a:xfrm>
          <a:prstGeom prst="rect">
            <a:avLst/>
          </a:prstGeom>
          <a:solidFill>
            <a:srgbClr val="F8BBD9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880E4F"/>
                </a:solidFill>
                <a:latin typeface="Calibri"/>
              </a:rPr>
              <a:t>RISING  ↑</a:t>
            </a:r>
          </a:p>
        </p:txBody>
      </p:sp>
      <p:sp>
        <p:nvSpPr>
          <p:cNvPr id="41" name="s42"/>
          <p:cNvSpPr>
            <a:spLocks noGrp="1"/>
          </p:cNvSpPr>
          <p:nvPr/>
        </p:nvSpPr>
        <p:spPr>
          <a:xfrm>
            <a:off x="4813300" y="2159000"/>
            <a:ext cx="4203700" cy="215900"/>
          </a:xfrm>
          <a:prstGeom prst="rect">
            <a:avLst/>
          </a:prstGeom>
          <a:noFill/>
        </p:spPr>
        <p:txBody>
          <a:bodyPr l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D1B4B"/>
                </a:solidFill>
                <a:latin typeface="Calibri"/>
              </a:rPr>
              <a:t>Threat of Substitutes</a:t>
            </a:r>
          </a:p>
        </p:txBody>
      </p:sp>
      <p:sp>
        <p:nvSpPr>
          <p:cNvPr id="42" name="s43"/>
          <p:cNvSpPr>
            <a:spLocks noGrp="1"/>
          </p:cNvSpPr>
          <p:nvPr/>
        </p:nvSpPr>
        <p:spPr>
          <a:xfrm>
            <a:off x="4813300" y="24003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3A3A5C"/>
                </a:solidFill>
                <a:latin typeface="Calibri"/>
              </a:rPr>
              <a:t>EV penetration at 3% of Greek fleet (2025, accelerating). ELPE responds: 1.6 GW renewables, EV charging via EKO, hydrogen R&amp;D.</a:t>
            </a:r>
          </a:p>
        </p:txBody>
      </p:sp>
      <p:sp>
        <p:nvSpPr>
          <p:cNvPr id="43" name="s44"/>
          <p:cNvSpPr>
            <a:spLocks noGrp="1"/>
          </p:cNvSpPr>
          <p:nvPr/>
        </p:nvSpPr>
        <p:spPr>
          <a:xfrm>
            <a:off x="4813300" y="2705100"/>
            <a:ext cx="4203700" cy="22860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buNone/>
            </a:pPr>
            <a:r>
              <a:rPr lang="en-US" sz="850" i="1" dirty="0">
                <a:solidFill>
                  <a:srgbClr val="880E4F"/>
                </a:solidFill>
                <a:latin typeface="Calibri"/>
              </a:rPr>
              <a:t>STRATEGIC RISK — existential long-run threat; refining assets hold 20–30yr economic life.</a:t>
            </a:r>
          </a:p>
        </p:txBody>
      </p:sp>
      <p:sp>
        <p:nvSpPr>
          <p:cNvPr id="44" name="s45"/>
          <p:cNvSpPr>
            <a:spLocks noGrp="1"/>
          </p:cNvSpPr>
          <p:nvPr/>
        </p:nvSpPr>
        <p:spPr>
          <a:xfrm>
            <a:off x="0" y="3035300"/>
            <a:ext cx="9144000" cy="1574800"/>
          </a:xfrm>
          <a:prstGeom prst="rect">
            <a:avLst/>
          </a:prstGeom>
          <a:solidFill>
            <a:srgbClr val="FFFFFF"/>
          </a:solidFill>
        </p:spPr>
        <p:txBody>
          <a:bodyPr anchor="t"/>
          <a:lstStyle/>
          <a:p>
            <a:endParaRPr/>
          </a:p>
        </p:txBody>
      </p:sp>
      <p:sp>
        <p:nvSpPr>
          <p:cNvPr id="45" name="s46"/>
          <p:cNvSpPr>
            <a:spLocks noGrp="1"/>
          </p:cNvSpPr>
          <p:nvPr/>
        </p:nvSpPr>
        <p:spPr>
          <a:xfrm>
            <a:off x="0" y="3035300"/>
            <a:ext cx="63500" cy="1574800"/>
          </a:xfrm>
          <a:prstGeom prst="rect">
            <a:avLst/>
          </a:prstGeom>
          <a:solidFill>
            <a:srgbClr val="3949AB"/>
          </a:solidFill>
        </p:spPr>
        <p:txBody>
          <a:bodyPr anchor="t"/>
          <a:lstStyle/>
          <a:p>
            <a:endParaRPr/>
          </a:p>
        </p:txBody>
      </p:sp>
      <p:sp>
        <p:nvSpPr>
          <p:cNvPr id="46" name="s47"/>
          <p:cNvSpPr>
            <a:spLocks noGrp="1"/>
          </p:cNvSpPr>
          <p:nvPr/>
        </p:nvSpPr>
        <p:spPr>
          <a:xfrm>
            <a:off x="152400" y="3149600"/>
            <a:ext cx="317500" cy="266700"/>
          </a:xfrm>
          <a:prstGeom prst="rect">
            <a:avLst/>
          </a:prstGeom>
          <a:solidFill>
            <a:srgbClr val="3949AB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47" name="s48"/>
          <p:cNvSpPr>
            <a:spLocks noGrp="1"/>
          </p:cNvSpPr>
          <p:nvPr/>
        </p:nvSpPr>
        <p:spPr>
          <a:xfrm>
            <a:off x="520700" y="3149600"/>
            <a:ext cx="1625600" cy="266700"/>
          </a:xfrm>
          <a:prstGeom prst="rect">
            <a:avLst/>
          </a:prstGeom>
          <a:solidFill>
            <a:srgbClr val="C5CAE9"/>
          </a:solidFill>
        </p:spPr>
        <p:txBody>
          <a:bodyPr anchor="ctr"/>
          <a:lstStyle/>
          <a:p>
            <a:pPr algn="ctr">
              <a:buNone/>
            </a:pPr>
            <a:r>
              <a:rPr lang="en-US" sz="800" b="1" dirty="0">
                <a:solidFill>
                  <a:srgbClr val="1A237E"/>
                </a:solidFill>
                <a:latin typeface="Calibri"/>
              </a:rPr>
              <a:t>MEDIUM  →</a:t>
            </a:r>
          </a:p>
        </p:txBody>
      </p:sp>
      <p:sp>
        <p:nvSpPr>
          <p:cNvPr id="48" name="s49"/>
          <p:cNvSpPr>
            <a:spLocks noGrp="1"/>
          </p:cNvSpPr>
          <p:nvPr/>
        </p:nvSpPr>
        <p:spPr>
          <a:xfrm>
            <a:off x="2222500" y="3149600"/>
            <a:ext cx="6794500" cy="266700"/>
          </a:xfrm>
          <a:prstGeom prst="rect">
            <a:avLst/>
          </a:prstGeom>
          <a:noFill/>
        </p:spPr>
        <p:txBody>
          <a:bodyPr l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D1B4B"/>
                </a:solidFill>
                <a:latin typeface="Calibri"/>
              </a:rPr>
              <a:t>Competitive Rivalry</a:t>
            </a:r>
          </a:p>
        </p:txBody>
      </p:sp>
      <p:sp>
        <p:nvSpPr>
          <p:cNvPr id="49" name="s50"/>
          <p:cNvSpPr>
            <a:spLocks noGrp="1"/>
          </p:cNvSpPr>
          <p:nvPr/>
        </p:nvSpPr>
        <p:spPr>
          <a:xfrm>
            <a:off x="152400" y="3492500"/>
            <a:ext cx="8864600" cy="736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3A3A5C"/>
                </a:solidFill>
                <a:latin typeface="Calibri"/>
              </a:rPr>
              <a:t>Domestic duopoly: ELPE ~55% vs MOH ~40% market share. Import competition is logistics-constrained. Contest is on crack-spread capture, retail density and Balkans export access.</a:t>
            </a:r>
          </a:p>
        </p:txBody>
      </p:sp>
      <p:sp>
        <p:nvSpPr>
          <p:cNvPr id="50" name="s51"/>
          <p:cNvSpPr>
            <a:spLocks noGrp="1"/>
          </p:cNvSpPr>
          <p:nvPr/>
        </p:nvSpPr>
        <p:spPr>
          <a:xfrm>
            <a:off x="152400" y="4318000"/>
            <a:ext cx="8864600" cy="22860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algn="l">
              <a:buNone/>
            </a:pPr>
            <a:r>
              <a:rPr lang="en-US" sz="850" i="1" dirty="0">
                <a:solidFill>
                  <a:srgbClr val="1A237E"/>
                </a:solidFill>
                <a:latin typeface="Calibri"/>
              </a:rPr>
              <a:t>CONCENTRATED DUOPOLY — no displacement risk between incumbents; contest is on efficiency &amp; asset quality.</a:t>
            </a:r>
          </a:p>
        </p:txBody>
      </p:sp>
      <p:sp>
        <p:nvSpPr>
          <p:cNvPr id="51" name="s52"/>
          <p:cNvSpPr>
            <a:spLocks noGrp="1"/>
          </p:cNvSpPr>
          <p:nvPr/>
        </p:nvSpPr>
        <p:spPr>
          <a:xfrm>
            <a:off x="0" y="4610100"/>
            <a:ext cx="9144000" cy="381000"/>
          </a:xfrm>
          <a:prstGeom prst="rect">
            <a:avLst/>
          </a:prstGeom>
          <a:solidFill>
            <a:srgbClr val="0D1B4B"/>
          </a:solidFill>
        </p:spPr>
        <p:txBody>
          <a:bodyPr wrap="square" lIns="228600" rIns="228600" anchor="ctr"/>
          <a:lstStyle/>
          <a:p>
            <a:pPr algn="l">
              <a:buNone/>
            </a:pPr>
            <a:r>
              <a:rPr lang="en-US" sz="950" b="1" dirty="0">
                <a:solidFill>
                  <a:srgbClr val="C9A84C"/>
                </a:solidFill>
                <a:latin typeface="Calibri"/>
              </a:rPr>
              <a:t>VERDICT: </a:t>
            </a:r>
            <a:r>
              <a:rPr lang="en-US" sz="850" dirty="0">
                <a:solidFill>
                  <a:srgbClr val="CCDDFF"/>
                </a:solidFill>
                <a:latin typeface="Calibri"/>
              </a:rPr>
              <a:t>HIGH-BARRIER, LOW-RIVALRY market. The dominant long-run risk is the </a:t>
            </a:r>
            <a:r>
              <a:rPr lang="en-US" sz="850" b="1" dirty="0">
                <a:solidFill>
                  <a:srgbClr val="FF8A80"/>
                </a:solidFill>
                <a:latin typeface="Calibri"/>
              </a:rPr>
              <a:t>SUBSTITUTE THREAT</a:t>
            </a:r>
            <a:r>
              <a:rPr lang="en-US" sz="850" dirty="0">
                <a:solidFill>
                  <a:srgbClr val="CCDDFF"/>
                </a:solidFill>
                <a:latin typeface="Calibri"/>
              </a:rPr>
              <a:t> (energy transition). ELPE holds a durable competitive moat on scale, integration &amp; relationships.</a:t>
            </a:r>
          </a:p>
        </p:txBody>
      </p:sp>
      <p:sp>
        <p:nvSpPr>
          <p:cNvPr id="52" name="s53"/>
          <p:cNvSpPr>
            <a:spLocks noGrp="1"/>
          </p:cNvSpPr>
          <p:nvPr/>
        </p:nvSpPr>
        <p:spPr>
          <a:xfrm>
            <a:off x="0" y="5016500"/>
            <a:ext cx="9144000" cy="152400"/>
          </a:xfrm>
          <a:prstGeom prst="rect">
            <a:avLst/>
          </a:prstGeom>
          <a:noFill/>
        </p:spPr>
        <p:txBody>
          <a:bodyPr lIns="228600" anchor="ctr"/>
          <a:lstStyle/>
          <a:p>
            <a:pPr algn="l">
              <a:buNone/>
            </a:pPr>
            <a:r>
              <a:rPr lang="en-US" sz="650" dirty="0">
                <a:solidFill>
                  <a:srgbClr val="9999AA"/>
                </a:solidFill>
                <a:latin typeface="Calibri"/>
              </a:rPr>
              <a:t>Sources: ELPE &amp; MOH Annual Reports 2021–2025 (IFRS)  |  Bloomberg Apr-2026  |  Wood Mackenzie  |  Porter (1980) Framework</a:t>
            </a:r>
          </a:p>
        </p:txBody>
      </p:sp>
    </p:spTree>
    <p:extLst>
      <p:ext uri="{BB962C8B-B14F-4D97-AF65-F5344CB8AC3E}">
        <p14:creationId xmlns:p14="http://schemas.microsoft.com/office/powerpoint/2010/main" val="181864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RATIOS: ELPE vs MOTOR OIL  (FY2024–FY2025)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37856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ELPE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(loans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Int. Coverage (x)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+2.10 ↑↑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EBITDA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+2.9pp ↑↑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ROA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-1.0pp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ROE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-2.1pp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&amp; LEVERAGE: ELPE vs MOH  (2021–2025)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2834640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4663440" y="594360"/>
          <a:ext cx="4206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Z-SCORE: FINANCIAL DISTRESS POSITIONING  (2021–2025)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640080"/>
          <a:ext cx="2743200" cy="16093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2.99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 – 2.99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 (all years)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1.81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2606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ELPE persistently in Grey Zone (1.89–2.90) | Never crossed Safe threshold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REVENUE MIX: 2025A vs 2030F  (€m &amp; %)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20856805"/>
              </p:ext>
            </p:extLst>
          </p:nvPr>
        </p:nvGraphicFramePr>
        <p:xfrm>
          <a:off x="140426" y="594360"/>
          <a:ext cx="4389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925007292"/>
              </p:ext>
            </p:extLst>
          </p:nvPr>
        </p:nvGraphicFramePr>
        <p:xfrm>
          <a:off x="4663440" y="594360"/>
          <a:ext cx="4389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FORECAST  (2025A–2030F, €m)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4754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120640" y="594360"/>
          <a:ext cx="3749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DECOMPOSITION  |  Base Case: 7.57%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3931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 (Rf)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 AAA 10Y Benchmark –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Risk Premium (ERP)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base 4.67% + Greece CRP 2.85%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(βL* bottom-up)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Hamada re-levered; Blume OLS: 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Equity (Ke)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= Rf + β × ERP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Cost of Debt (Kd)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Blend: 35% effective rate + 65% synthetic (Rf+CDS)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Cost of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 × (1 – 22% tax rate)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of Equity (We)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 €3,006m / Total capital €5,146m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of Debt (Wd)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€2,140m / Total capital €5,146m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We×Ke + Wd×Kd×(1–t)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SUM-OF-THE-PARTS VALUATION  |  Base Year: 2026F  (€m)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640080"/>
          <a:ext cx="3291840" cy="32918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2026F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(Base)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Base (€m)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Refining &amp; Supply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(EKO)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598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176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&amp; 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Corp. Overhead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4434840"/>
            <a:ext cx="338328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577840" y="4434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€12.98  |  Base: €19.54  |  High: €26.10  |  Market: €9.50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  |  FCFF 10-Year Model  (€m)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640080"/>
          <a:ext cx="3383280" cy="28529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PV(FCFF) – 10Y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 PV of 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Net Debt FY2025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(2,140)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Market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+€13.63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3610848-2DD6-8210-1093-325FA980CD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589712"/>
              </p:ext>
            </p:extLst>
          </p:nvPr>
        </p:nvGraphicFramePr>
        <p:xfrm>
          <a:off x="0" y="2974062"/>
          <a:ext cx="5598579" cy="1984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 |  GBM  |  N=10,000  |  1-Year Horizon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594360"/>
          <a:ext cx="5943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640080"/>
          <a:ext cx="2560320" cy="33649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€9.50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 – Bear Extreme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 – Bear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– 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(Expected)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 – Bull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– Bull Extreme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P(Price &gt; €9.50)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€3.10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  |  STATIONARITY TESTS: ADF &amp; KPSS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19019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Stat.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p-val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Stat.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p-val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 log-returns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 log-returns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 Spread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Non-stationary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Non-stationary 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2423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GARCH(1,1)–Student-t  |  Parameter Estimates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(omega)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 unconditional variance intercept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α₁ (ARCH – recent shock)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to lagged squared return shocks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β₁ (GARCH – persistence)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Decay rate of variance toward long-run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α₁ + β₁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Near-unit root in variance → shocks take ~95 days to halve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GARCH half-life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for a volatility shock to halve in magnitude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GARCH σ (annualised)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2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conditional annualised volatility (GBM: 28.8%)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  |  VAR(6) GRANGER CAUSALITY  &amp;  STRUCTURAL BREAK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 Tests  |  VAR(6) – AIC optimal lag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14800" cy="157581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F-Stat.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→ ELPE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Granger-causes ELPE 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→ ELPE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Granger-causes ELPE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 → Oil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 modestly causes Oil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743200"/>
            <a:ext cx="4114800" cy="1188720"/>
          </a:xfrm>
          <a:prstGeom prst="rect">
            <a:avLst/>
          </a:prstGeom>
          <a:solidFill>
            <a:srgbClr val="EDE0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27889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Impulse-Response: Oil shocks absorbed within 5–7 trading days. Market index is primary driver (p = 0.007). Two-way oil-ELPE causality reflects ELPE's dominant SEE refining position.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63440" y="594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 Detection  |  Chow &amp; Bai-Perron Tests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14400"/>
          <a:ext cx="4206240" cy="118567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Chow (midpoint)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present at 5% sig.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Bai-Perron 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May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regime shift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63440" y="1920240"/>
            <a:ext cx="4206240" cy="731520"/>
          </a:xfrm>
          <a:prstGeom prst="rect">
            <a:avLst/>
          </a:prstGeom>
          <a:solidFill>
            <a:srgbClr val="EDE0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709160" y="1965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before break: ~0.88 | Beta after May 2025: ~0.62–0.65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Post-break: defensive beta as crack spreads normalised, D/E jumped to 1.10x</a:t>
            </a:r>
            <a:endParaRPr lang="en-US" sz="9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663440" y="2743200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  |  JOHANSEN COINTEGRATION: ELPE vs BRENT  (K=2)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(Null)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Stat.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  (no cointegration)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 at 10% (borderline 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≤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331720"/>
            <a:ext cx="2743200" cy="2514600"/>
          </a:xfrm>
          <a:prstGeom prst="rect">
            <a:avLst/>
          </a:prstGeom>
          <a:solidFill>
            <a:srgbClr val="6B2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4048" y="239572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Framework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283464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cointegrating relationship implies an Error Correction Model (ECM) captures short-run deviations while the long-run equilibrium between ELPE and Brent prices is restored.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54680" y="2331720"/>
            <a:ext cx="2743200" cy="251460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64408" y="239572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Trade Implication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64408" y="283464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ELPE / Short Brent benefits from cointegration: the two series tend to revert toward a shared long-run path, reducing directional risk over time.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35040" y="2331720"/>
            <a:ext cx="2743200" cy="251460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44768" y="239572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I(1) Both Series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83464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ELPE price and Brent are individually non-stationary (I(1)), but their linear combination is stationary — confirming a shared long-run economic link.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  |  RISK-ADJUSTED PERFORMANCE  &amp;  VAR / CVaR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4206240" cy="158191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(ann., Rf=3.08%)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per unit of total risk — below MOH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Treynor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per unit of systematic risk (β)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Jensen's Alpha (α)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+3.44% p.a.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above CAPM prediction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640080"/>
          <a:ext cx="4206240" cy="21488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Markov DCF (€/sh)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1Y (€/sh)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vs €9.50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 vs €9.50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 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 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2514600"/>
            <a:ext cx="4206240" cy="2331720"/>
          </a:xfrm>
          <a:prstGeom prst="rect">
            <a:avLst/>
          </a:prstGeom>
          <a:solidFill>
            <a:srgbClr val="EDE0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" y="260604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 α = +3.44%: ELPE has delivered excess returns vs. CAPM over the sample. Weaker Sharpe vs. MOH signals additional idiosyncratic risk not captured by beta — consistent with a deep-value restructuring story.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2697480"/>
            <a:ext cx="4206240" cy="2148840"/>
          </a:xfrm>
          <a:prstGeom prst="rect">
            <a:avLst/>
          </a:prstGeom>
          <a:solidFill>
            <a:srgbClr val="EDE0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754880" y="278892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asymmetry: Markov DCF VaR95 = €12.08 (+27% vs market) vs GBM VaR95 = €6.30 (−34%). Fundamental floor from intrinsic value significantly exceeds short-run market trading risk.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DCF  |  IMPLIED TERMINAL GROWTH RATE AT CURRENT PRICE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g (BU WACC)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 vs Base (1.8%)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g (OLS WACC)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 (−20%)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−1.97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implied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−0.79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Below-base growth priced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(+20%)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with base-case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€19.54–23.13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/ SOTP intrinsic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00400"/>
            <a:ext cx="2743200" cy="169164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Implied g = 1.01%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363931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€9.50, the market prices in terminal growth 79bp below analyst base of 1.8% — and well below Greek nominal GDP growth of 2.5–3.0%.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54680" y="3200400"/>
            <a:ext cx="2743200" cy="1691640"/>
          </a:xfrm>
          <a:prstGeom prst="rect">
            <a:avLst/>
          </a:prstGeom>
          <a:solidFill>
            <a:srgbClr val="6B2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4612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Undervalued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46120" y="363931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600MW RES by 2027 and 5.2GW pipeline, the implied g of 1.01% effectively prices in structural decline — inconsistent with ELPE's energy transition.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3192716"/>
            <a:ext cx="2743200" cy="1691640"/>
          </a:xfrm>
          <a:prstGeom prst="rect">
            <a:avLst/>
          </a:prstGeom>
          <a:solidFill>
            <a:srgbClr val="C218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Risk/Reward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0" y="363931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OLS WACC bear scenario (implied g = −2.65%) must assume shrinkage. Any mean-reversion in crack spreads or RES execution re-rates the stock materially.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B2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RECOMMENDATION  |  HELLENIC ENERGY (ELPE)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0" y="777240"/>
            <a:ext cx="2743200" cy="1005840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777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651760" cy="82296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€9.50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965960"/>
            <a:ext cx="2651760" cy="822960"/>
          </a:xfrm>
          <a:prstGeom prst="rect">
            <a:avLst/>
          </a:prstGeom>
          <a:solidFill>
            <a:srgbClr val="6B2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€23.13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5468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2651760" cy="822960"/>
          </a:xfrm>
          <a:prstGeom prst="rect">
            <a:avLst/>
          </a:prstGeom>
          <a:solidFill>
            <a:srgbClr val="6B2F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€19.54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SOTP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2651760" cy="822960"/>
          </a:xfrm>
          <a:prstGeom prst="rect">
            <a:avLst/>
          </a:prstGeom>
          <a:solidFill>
            <a:srgbClr val="16653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035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3538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(Base)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3017520"/>
            <a:ext cx="2651760" cy="82296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54680" y="3035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54680" y="3538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Div. Yield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2651760" cy="82296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3035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35040" y="3538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2743200" cy="100584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400507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INFLECTION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4325112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€390m (2026F) → €815m (2030F)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tapering as RES build peaks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54680" y="3977640"/>
            <a:ext cx="2743200" cy="100584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27832" y="400507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MISPRICING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27832" y="4325112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 ~3.5x for full group;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at 83.5% margin deserves &gt;10x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3977640"/>
            <a:ext cx="2743200" cy="1005840"/>
          </a:xfrm>
          <a:prstGeom prst="rect">
            <a:avLst/>
          </a:prstGeom>
          <a:solidFill>
            <a:srgbClr val="1A2F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08192" y="400507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FLOOR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08192" y="4325112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PP&amp;E €4.16bn vs EV €5.0bn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cost &gt; enterprise value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919472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window: 2026–2028  |  Mechanism: 8–9% dividend yield while waiting for operational RES capacity to cross 1GW threshold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EFE483-1419-8D46-B4E7-D7B32E76809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04c4b83-aed2-4c07-b6cb-eb846e2004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3552</TotalTime>
  <Words>2163</Words>
  <Application>Microsoft Macintosh PowerPoint</Application>
  <PresentationFormat>On-screen Show (16:9)</PresentationFormat>
  <Paragraphs>499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HELLENiQ Energy (ELPE) – Financial Analysis &amp; Valuation</dc:title>
  <dc:subject>PptxGenJS Presentation</dc:subject>
  <dc:creator>PptxGenJS</dc:creator>
  <cp:lastModifiedBy>Nikolaos Lamprou</cp:lastModifiedBy>
  <cp:revision>7</cp:revision>
  <dcterms:created xsi:type="dcterms:W3CDTF">2026-05-04T14:42:08Z</dcterms:created>
  <dcterms:modified xsi:type="dcterms:W3CDTF">2026-05-08T17:23:45Z</dcterms:modified>
</cp:coreProperties>
</file>